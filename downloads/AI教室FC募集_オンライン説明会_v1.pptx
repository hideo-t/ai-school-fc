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D5AB5">
              <a:alpha val="30000"/>
            </a:srgbClr>
          </a:solidFill>
          <a:ln w="12700">
            <a:solidFill>
              <a:srgbClr val="3D5AB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FF7B47">
              <a:alpha val="20000"/>
            </a:srgbClr>
          </a:solidFill>
          <a:ln w="12700">
            <a:solidFill>
              <a:srgbClr val="FF7B4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6459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Excel/Word教室から、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AI時代の教室へ。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全国のパソコン教室経営者を、創業パートナーとして募集します。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31520" y="4572000"/>
            <a:ext cx="1828800" cy="0"/>
          </a:xfrm>
          <a:prstGeom prst="line">
            <a:avLst/>
          </a:prstGeom>
          <a:noFill/>
          <a:ln w="38100">
            <a:solidFill>
              <a:srgbClr val="FF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AIの町医者　高橋 秀夫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D6E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オンライン説明会｜30分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本日のゴール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65760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FC事業の全体像を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ご理解いただく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069080"/>
            <a:ext cx="731520" cy="0"/>
          </a:xfrm>
          <a:prstGeom prst="line">
            <a:avLst/>
          </a:prstGeom>
          <a:noFill/>
          <a:ln w="25400">
            <a:solidFill>
              <a:srgbClr val="FF7B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カリキュラム・経済性・サポート体制を15分で説明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65760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6344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ご質問にお答えする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66344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10分の質疑応答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663440" y="4069080"/>
            <a:ext cx="731520" cy="0"/>
          </a:xfrm>
          <a:prstGeom prst="line">
            <a:avLst/>
          </a:prstGeom>
          <a:noFill/>
          <a:ln w="25400">
            <a:solidFill>
              <a:srgbClr val="FF7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気になる点を遠慮なくお聞きください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65760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1031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8503920" y="2926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今後の進め方を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03920" y="33832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ご相談する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503920" y="4069080"/>
            <a:ext cx="731520" cy="0"/>
          </a:xfrm>
          <a:prstGeom prst="line">
            <a:avLst/>
          </a:prstGeom>
          <a:noFill/>
          <a:ln w="25400">
            <a:solidFill>
              <a:srgbClr val="FF7B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42976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即決不要、持ち帰って検討OK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ご挨拶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645920"/>
            <a:ext cx="2926080" cy="292608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3774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AIの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町医者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16459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高橋 秀夫（たかはし ひでお）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89120" y="22860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通称：AIの町医者 / PAPA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2926080"/>
            <a:ext cx="71323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1980年代から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PC9801時代を知る現役技術者（IT歴30年以上）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トヨタ系営業30年の経験を持つ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技術と営業の両輪が回せる希少人材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願い灯フランチャイズ運営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FCモデル構築・本部運営の実務経験あり</a:t>
            </a:r>
            <a:endParaRPr lang="en-US" sz="15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5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AI顧問契約8社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中小企業のAI導入を地域伴走型でサポート中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あなたの教室、こんな状況ではありませんか？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📉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92024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生徒数が減ってきた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Excel/Wordは検索すれば分かる時代。受講者数が年々減少している。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09360" y="1554480"/>
            <a:ext cx="53949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182880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🤖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7680960" y="19202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AI講座を求められる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67512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「AI教えてほしい」と言われるが、講師がついていけない。カリキュラムもない。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949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📚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1920240" y="4297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カリキュラム作る時間がない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14400" y="5120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教室運営で手一杯。0からAI講座を設計するのは現実的じゃない。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3931920"/>
            <a:ext cx="5394960" cy="21945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0" y="42062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⏳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680960" y="42976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5年後の経営が不安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75120" y="512064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業界全体がAIに置き換えられていく流れ。今のままで本当に大丈夫か？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解決策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教えることは、私たちに任せてください。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AI講座カリキュラム一式を、丸ごとパッケージで提供します。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718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4ヶ月分の完全カリキュラム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0" y="297180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03720" y="2926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動画教材・テキスト・課題サンプル一式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379476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ソースコード（実際に動くWebサービス）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0" y="379476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3794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903720" y="3749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講師向けマニュアル（Excel/Wordレベル対応）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31520" y="46177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月1回のオンライン上級メンタリング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0" y="461772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4617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03720" y="45720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月1回の教室向け運営相談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54406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教材アップデート（AI業界に追従）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400800" y="54406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5440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90372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「AIの町医者認定校」表記の利用権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カリキュラム概要｜4ヶ月・週2時間×16回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卒業時、受講生が「営業可能PoC」を自分で作れる状態にします。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10312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2103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Module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AIとの対話術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ChatGPT/Claude 使い分け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4434840"/>
            <a:ext cx="118872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3回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34640" y="1737360"/>
            <a:ext cx="210312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34640" y="1737360"/>
            <a:ext cx="2103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Module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92608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ノーコード基礎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971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Sheets/GAS/GitHub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4434840"/>
            <a:ext cx="118872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4回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120640" y="1737360"/>
            <a:ext cx="210312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20640" y="1737360"/>
            <a:ext cx="2103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Module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21208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PoC設計思想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57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「動く」と「商品」の違い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77840" y="4434840"/>
            <a:ext cx="118872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2回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406640" y="1737360"/>
            <a:ext cx="210312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737360"/>
            <a:ext cx="2103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Module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49808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実装ハンズオン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43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予約システム写経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863840" y="4434840"/>
            <a:ext cx="118872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5回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9692640" y="1737360"/>
            <a:ext cx="2103120" cy="347472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692640" y="1737360"/>
            <a:ext cx="210312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692640" y="1737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Module 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9784080" y="2560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営業仕上げ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829800" y="32918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ロゴ・配色・公開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0149840" y="4434840"/>
            <a:ext cx="118872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49840" y="44348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2回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📌 卒業作品例：ぽかぽか食堂予約システム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B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https://hideo-t.github.io/pokapoka/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実証PoC｜ぽかぽか食堂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カリキュラムの最終成果物、すでに動いています。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制作実例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943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📅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スマホから予約完了（メール認証）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LINE 公式アカウント連携（リッチメニュー4ボタン）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📧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予約確認・前日リマインダーを自動送信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管理者ダッシュボード（CSV出力・統計）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🔒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1A202C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プライバシー完全保護（個別認証）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828800"/>
            <a:ext cx="4846320" cy="4114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0" y="20116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088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制作実績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40880" y="2468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6時間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04088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で完成した「営業可能PoC」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040880" y="4297680"/>
            <a:ext cx="4389120" cy="0"/>
          </a:xfrm>
          <a:prstGeom prst="line">
            <a:avLst/>
          </a:prstGeom>
          <a:noFill/>
          <a:ln w="12700">
            <a:solidFill>
              <a:srgbClr val="FF7B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4480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これと同じレベルのものを、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40880" y="4846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受講生が4ヶ月で作れるようになる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40880" y="5303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カリキュラムです。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D5AB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🔗 実物を見る：https://hideo-t.github.io/pokapoka/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経済性シミュレーション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初年度1期目で、投資完全回収できます。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64008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 Semibold" pitchFamily="34" charset="0"/>
                          <a:ea typeface="Yu Gothic UI Semibold" pitchFamily="34" charset="-122"/>
                          <a:cs typeface="Yu Gothic UI Semibold" pitchFamily="34" charset="-120"/>
                        </a:rPr>
                        <a:t>項目</a:t>
                      </a:r>
                      <a:endParaRPr lang="en-US" sz="1200" dirty="0">
                        <a:latin typeface="Yu Gothic UI Semibold" charset="0"/>
                        <a:ea typeface="Yu Gothic UI Semibold" charset="0"/>
                        <a:cs typeface="Yu Gothic UI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Yu Gothic UI Semibold" pitchFamily="34" charset="0"/>
                          <a:ea typeface="Yu Gothic UI Semibold" pitchFamily="34" charset="-122"/>
                          <a:cs typeface="Yu Gothic UI Semibold" pitchFamily="34" charset="-120"/>
                        </a:rPr>
                        <a:t>金額</a:t>
                      </a:r>
                      <a:endParaRPr lang="en-US" sz="1200" dirty="0">
                        <a:latin typeface="Yu Gothic UI Semibold" charset="0"/>
                        <a:ea typeface="Yu Gothic UI Semibold" charset="0"/>
                        <a:cs typeface="Yu Gothic UI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受講料 ¥298,000 × 5名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A202C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¥1,490,000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ロイヤリティ（20%）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− ¥298,000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初期ライセンス料（買切）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− ¥200,000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月額サポート × 4ヶ月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4A5568"/>
                          </a:solidFill>
                          <a:latin typeface="Yu Gothic UI" pitchFamily="34" charset="0"/>
                          <a:ea typeface="Yu Gothic UI" pitchFamily="34" charset="-122"/>
                          <a:cs typeface="Yu Gothic UI" pitchFamily="34" charset="-120"/>
                        </a:rPr>
                        <a:t>− ¥120,000</a:t>
                      </a:r>
                      <a:endParaRPr lang="en-US" sz="1300" dirty="0">
                        <a:latin typeface="Yu Gothic UI" charset="0"/>
                        <a:ea typeface="Yu Gothic UI" charset="0"/>
                        <a:cs typeface="Yu Gothic U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Yu Gothic UI Semibold" pitchFamily="34" charset="0"/>
                          <a:ea typeface="Yu Gothic UI Semibold" pitchFamily="34" charset="-122"/>
                          <a:cs typeface="Yu Gothic UI Semibold" pitchFamily="34" charset="-120"/>
                        </a:rPr>
                        <a:t>1期目 教室利益</a:t>
                      </a:r>
                      <a:endParaRPr lang="en-US" sz="1400" dirty="0">
                        <a:latin typeface="Yu Gothic UI Semibold" charset="0"/>
                        <a:ea typeface="Yu Gothic UI Semibold" charset="0"/>
                        <a:cs typeface="Yu Gothic UI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b="1" dirty="0">
                          <a:solidFill>
                            <a:srgbClr val="10B981"/>
                          </a:solidFill>
                          <a:latin typeface="Yu Gothic UI Semibold" pitchFamily="34" charset="0"/>
                          <a:ea typeface="Yu Gothic UI Semibold" pitchFamily="34" charset="-122"/>
                          <a:cs typeface="Yu Gothic UI Semibold" pitchFamily="34" charset="-120"/>
                        </a:rPr>
                        <a:t>¥872,000</a:t>
                      </a:r>
                      <a:endParaRPr lang="en-US" sz="1600" dirty="0">
                        <a:latin typeface="Yu Gothic UI Semibold" charset="0"/>
                        <a:ea typeface="Yu Gothic UI Semibold" charset="0"/>
                        <a:cs typeface="Yu Gothic UI Semibold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315200" y="1828800"/>
            <a:ext cx="4389120" cy="4572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0" y="210312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1期目で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498080" y="26517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¥872,000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7498080" y="38404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の利益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498080" y="4480560"/>
            <a:ext cx="3931920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0" y="4663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年2期開催で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0" y="50292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年商プラス ¥240万円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498080" y="5760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8E6C9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（受講生5名想定）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パートナー教室のメリット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1155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45920" y="155448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即立ち上げ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937760" y="169164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0" y="15544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カリキュラム作成6ヶ月→1ヶ月に短縮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155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51460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514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45920" y="251460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講師スキル要件低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937760" y="265176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2514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Excel/Wordレベルで対応可、上級はHideoが対応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11155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347472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747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645920" y="34747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高単価商品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937760" y="361188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2080" y="34747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Excel講座¥30,000の10倍単価（¥298,000）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434840"/>
            <a:ext cx="11155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43484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645920" y="443484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新規生徒層獲得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937760" y="457200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12080" y="44348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副業希望者・個人事業主・若年層にリーチ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1155680" cy="82296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5394960"/>
            <a:ext cx="82296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53949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45920" y="539496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AI時代の生き残り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937760" y="5532120"/>
            <a:ext cx="0" cy="54864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0" y="53949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業界縮小に対する戦略的ポジショニング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-1828800"/>
            <a:ext cx="4572000" cy="4572000"/>
          </a:xfrm>
          <a:prstGeom prst="ellipse">
            <a:avLst/>
          </a:prstGeom>
          <a:solidFill>
            <a:srgbClr val="FF7B47">
              <a:alpha val="20000"/>
            </a:srgbClr>
          </a:solidFill>
          <a:ln w="12700">
            <a:solidFill>
              <a:srgbClr val="FF7B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457200"/>
            <a:ext cx="2286000" cy="54864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先着 3 校 限定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創業パートナー教室特典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最初に提携する教室には、特別待遇をご用意しています。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111556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43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💰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71600" y="27432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初期ライセンス料 50% OFF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0" y="27432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¥200,000 → ¥100,000（買切）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11556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290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371600" y="34290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第1期ロイヤリティ 半額（10%）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0" y="34290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初期負担を最小化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111556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1148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🏆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371600" y="41148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「創業パートナー教室」として全国紹介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772400" y="41148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ブランド価値・先行者利益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1556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8006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71600" y="48006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カリキュラム改善への発言権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現場の声がそのまま反映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15568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4864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📞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371600" y="548640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Hideoとの優先メンタリング枠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772400" y="548640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通常より厚いサポート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B08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ご応募からスタートまでの流れ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いきなり契約ではありません。話を聞いてから判断OK。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94460" y="2286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39446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📞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4008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オンライン説明会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本日のような30分の説明会。無料。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1752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3429000" y="2011680"/>
            <a:ext cx="260604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74820" y="2286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7482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👂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52044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教室ヒアリング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貴教室の状況・課題をお伺いします。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309360" y="2011680"/>
            <a:ext cx="260604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55180" y="2286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5518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3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30936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📝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40080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契約条件すり合わせ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46520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サポート範囲・開講時期を相談。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778240" y="338328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7B47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→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9189720" y="2011680"/>
            <a:ext cx="2606040" cy="3657600"/>
          </a:xfrm>
          <a:prstGeom prst="rect">
            <a:avLst/>
          </a:prstGeom>
          <a:solidFill>
            <a:srgbClr val="F7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35540" y="228600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35540" y="22860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4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9189720" y="3383280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🚀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281160" y="411480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契約締結 → キックオフ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326880" y="46634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教材納品・講師研修・開講準備。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94360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✨  説明会まで0コスト、契約まで0コミット。安心してご検討ください。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よくあるご質問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うちの講師、AIに詳しくないですが大丈夫？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大丈夫です。基本講師はExcel/Wordレベルで対応可能。上級内容はHideoがメンタリングします。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548640" cy="548640"/>
          </a:xfrm>
          <a:prstGeom prst="ellipse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2514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生徒が集まらなかったらどうする？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108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集客サポートも含まれます。営業ピッチ・チラシテンプレート・SNS運用ガイドを提供します。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3657600"/>
            <a:ext cx="548640" cy="548640"/>
          </a:xfrm>
          <a:prstGeom prst="ellipse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657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3657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契約期間や解約条件は？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4251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最低契約期間は1年。それ以降は月単位で解約可能。教材は買い切りなので解約後も利用できます。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Q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280160" y="48006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02C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他の教室と差別化できる？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394960"/>
            <a:ext cx="548640" cy="54864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394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53949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カリキュラムは共通ですが、地域性・講師の人柄で差別化されます。地域独占も応相談です。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AI教室フランチャイズ募集｜AIの町医者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809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5486400" cy="5486400"/>
          </a:xfrm>
          <a:prstGeom prst="ellipse">
            <a:avLst/>
          </a:prstGeom>
          <a:solidFill>
            <a:srgbClr val="3D5AB5">
              <a:alpha val="30000"/>
            </a:srgbClr>
          </a:solidFill>
          <a:ln w="12700">
            <a:solidFill>
              <a:srgbClr val="3D5AB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ご清聴ありがとうございました。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F7B4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ここから先は、対話の時間です。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2743200" cy="0"/>
          </a:xfrm>
          <a:prstGeom prst="line">
            <a:avLst/>
          </a:prstGeom>
          <a:noFill/>
          <a:ln w="38100">
            <a:solidFill>
              <a:srgbClr val="FF7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📧  メール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hdxrope@gmail.com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30175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💬  LINE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0" y="3474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@533dgghw（ぽかぽか食堂）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🌐  実証PoC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hideo-t.github.io/pokapoka/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4389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088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📄  FC募集LP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0" y="4846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hideo-t.github.io/ai-school-fc/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solidFill>
            <a:srgbClr val="FF7B47"/>
          </a:solidFill>
          <a:ln w="12700">
            <a:solidFill>
              <a:srgbClr val="FF7B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✨  まずは「話を聞いてみる」から、お気軽にどうぞ。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AI教室FC募集 オンライン説明会</dc:title>
  <dc:subject>PptxGenJS Presentation</dc:subject>
  <dc:creator>高橋秀夫（AIの町医者）</dc:creator>
  <cp:lastModifiedBy>高橋秀夫（AIの町医者）</cp:lastModifiedBy>
  <cp:revision>1</cp:revision>
  <dcterms:created xsi:type="dcterms:W3CDTF">2026-05-27T05:01:05Z</dcterms:created>
  <dcterms:modified xsi:type="dcterms:W3CDTF">2026-05-27T05:01:05Z</dcterms:modified>
</cp:coreProperties>
</file>